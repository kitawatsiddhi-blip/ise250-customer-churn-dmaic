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h32ej2IWBSE9W37lUDhY1bwte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7CE88E-20EC-4196-A973-89A20666764C}">
  <a:tblStyle styleId="{1A7CE88E-20EC-4196-A973-89A2066676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8b78bdc5ad_2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" name="Google Shape;9;g38b78bdc5ad_2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9e499e066_3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d9e499e066_3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9e499e066_3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9e499e066_3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g3d9e499e066_3_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9e499e066_3_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9e499e066_8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g3d9e499e066_8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9e499e066_8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9e499e066_8_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d9e499e066_8_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d9e499e066_8_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" name="Google Shape;58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9e499e0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d9e499e06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researchgate.net/scientific-contributions/Sarrosh-Zaheer-2294111814?_tp=eyJjb250ZXh0Ijp7ImZpcnN0UGFnZSI6InB1YmxpY2F0aW9uIiwicGFnZSI6InB1YmxpY2F0aW9uIn19" TargetMode="External"/><Relationship Id="rId4" Type="http://schemas.openxmlformats.org/officeDocument/2006/relationships/hyperlink" Target="https://www.tandfonline.com/author/Alalawin%2C+Abdullah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researchgate.net/scientific-contributions/RATHORE-APS-56643828?_tp=eyJjb250ZXh0Ijp7ImZpcnN0UGFnZSI6InB1YmxpY2F0aW9uIiwicGFnZSI6InB1YmxpY2F0aW9uIn19" TargetMode="External"/><Relationship Id="rId22" Type="http://schemas.openxmlformats.org/officeDocument/2006/relationships/hyperlink" Target="https://www.researchgate.net/publication/384609639_Customer_Contentment_and_Churn_Control_in_PTCL_for_Broadband_BB_services_by_means_of_Lean_Six_Sigma_LSS" TargetMode="External"/><Relationship Id="rId21" Type="http://schemas.openxmlformats.org/officeDocument/2006/relationships/hyperlink" Target="https://www.scribd.com/document/901562570/SixSigmaandContinuousImprovementStrategies111" TargetMode="External"/><Relationship Id="rId24" Type="http://schemas.openxmlformats.org/officeDocument/2006/relationships/hyperlink" Target="https://www.researchgate.net/scientific-contributions/Dr-Shahzada-Alamgir-Khan-2241035154?_tp=eyJjb250ZXh0Ijp7ImZpcnN0UGFnZSI6InB1YmxpY2F0aW9uIiwicGFnZSI6InB1YmxpY2F0aW9uIn19" TargetMode="External"/><Relationship Id="rId23" Type="http://schemas.openxmlformats.org/officeDocument/2006/relationships/hyperlink" Target="https://www.researchgate.net/scientific-contributions/Sarrosh-Zaheer-2294111814?_tp=eyJjb250ZXh0Ijp7ImZpcnN0UGFnZSI6InB1YmxpY2F0aW9uIiwicGFnZSI6InB1YmxpY2F0aW9uIn19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sciencedirect.com/science/article/pii/S0957417411011353" TargetMode="External"/><Relationship Id="rId4" Type="http://schemas.openxmlformats.org/officeDocument/2006/relationships/hyperlink" Target="https://www.sciencedirect.com/author/6603214509/mohand-tahar-kechadi" TargetMode="External"/><Relationship Id="rId9" Type="http://schemas.openxmlformats.org/officeDocument/2006/relationships/hyperlink" Target="https://journals.sagepub.com/doi/10.1509/jmkr.43.2.204#con5" TargetMode="External"/><Relationship Id="rId26" Type="http://schemas.openxmlformats.org/officeDocument/2006/relationships/hyperlink" Target="https://www.tandfonline.com/author/Alalawin%2C+Abdullah" TargetMode="External"/><Relationship Id="rId25" Type="http://schemas.openxmlformats.org/officeDocument/2006/relationships/hyperlink" Target="https://www.researchgate.net/profile/Umair-Ashraf-Khawaja?_tp=eyJjb250ZXh0Ijp7ImZpcnN0UGFnZSI6InB1YmxpY2F0aW9uIiwicGFnZSI6InB1YmxpY2F0aW9uIn19" TargetMode="External"/><Relationship Id="rId28" Type="http://schemas.openxmlformats.org/officeDocument/2006/relationships/hyperlink" Target="https://www.tandfonline.com/author/AlAlaween%2C+Wafa%27+H" TargetMode="External"/><Relationship Id="rId27" Type="http://schemas.openxmlformats.org/officeDocument/2006/relationships/hyperlink" Target="https://www.tandfonline.com/author/Qamar%2C+Ahmad+M" TargetMode="External"/><Relationship Id="rId5" Type="http://schemas.openxmlformats.org/officeDocument/2006/relationships/hyperlink" Target="https://journals.sagepub.com/doi/10.1509/jmkr.43.2.204" TargetMode="External"/><Relationship Id="rId6" Type="http://schemas.openxmlformats.org/officeDocument/2006/relationships/hyperlink" Target="https://journals.sagepub.com/doi/10.1509/jmkr.43.2.204#con1" TargetMode="External"/><Relationship Id="rId29" Type="http://schemas.openxmlformats.org/officeDocument/2006/relationships/hyperlink" Target="https://www.tandfonline.com/author/Bentahar%2C+Yasser" TargetMode="External"/><Relationship Id="rId7" Type="http://schemas.openxmlformats.org/officeDocument/2006/relationships/hyperlink" Target="https://journals.sagepub.com/doi/10.1509/jmkr.43.2.204#con2" TargetMode="External"/><Relationship Id="rId8" Type="http://schemas.openxmlformats.org/officeDocument/2006/relationships/hyperlink" Target="https://journals.sagepub.com/doi/10.1509/jmkr.43.2.204#con3" TargetMode="External"/><Relationship Id="rId31" Type="http://schemas.openxmlformats.org/officeDocument/2006/relationships/hyperlink" Target="https://www.tandfonline.com/author/Al-Jundi%2C+Salsabeel" TargetMode="External"/><Relationship Id="rId30" Type="http://schemas.openxmlformats.org/officeDocument/2006/relationships/hyperlink" Target="https://www.tandfonline.com/author/Al-Halaybeh%2C+Tarneem" TargetMode="External"/><Relationship Id="rId11" Type="http://schemas.openxmlformats.org/officeDocument/2006/relationships/hyperlink" Target="https://www.sciencedirect.com/science/article/abs/pii/S0377221711008599?via%3Dihub" TargetMode="External"/><Relationship Id="rId33" Type="http://schemas.openxmlformats.org/officeDocument/2006/relationships/hyperlink" Target="https://www.mdpi.com/2504-4990/7/3/105" TargetMode="External"/><Relationship Id="rId10" Type="http://schemas.openxmlformats.org/officeDocument/2006/relationships/hyperlink" Target="https://dl.acm.org/doi/10.1145/2939672.2939785" TargetMode="External"/><Relationship Id="rId32" Type="http://schemas.openxmlformats.org/officeDocument/2006/relationships/hyperlink" Target="https://www.tandfonline.com/author/Tanash%2C+Moayad" TargetMode="External"/><Relationship Id="rId13" Type="http://schemas.openxmlformats.org/officeDocument/2006/relationships/hyperlink" Target="https://www.sciencedirect.com/author/14034052100/david-martens" TargetMode="External"/><Relationship Id="rId12" Type="http://schemas.openxmlformats.org/officeDocument/2006/relationships/hyperlink" Target="https://www.sciencedirect.com/author/16065279300/wouter-verbeke" TargetMode="External"/><Relationship Id="rId15" Type="http://schemas.openxmlformats.org/officeDocument/2006/relationships/hyperlink" Target="https://uhra.herts.ac.uk/id/eprint/25993/1/16036206%20Alshourbaji%20Ibrahim%20final%20submission%202024.pdf" TargetMode="External"/><Relationship Id="rId14" Type="http://schemas.openxmlformats.org/officeDocument/2006/relationships/hyperlink" Target="https://www.sciencedirect.com/author/6601962197/bart-m-m-baesens" TargetMode="External"/><Relationship Id="rId17" Type="http://schemas.openxmlformats.org/officeDocument/2006/relationships/hyperlink" Target="https://www.researchgate.net/scientific-contributions/BHARGAVA-53787891?_tp=eyJjb250ZXh0Ijp7ImZpcnN0UGFnZSI6InB1YmxpY2F0aW9uIiwicGFnZSI6InB1YmxpY2F0aW9uIn19" TargetMode="External"/><Relationship Id="rId16" Type="http://schemas.openxmlformats.org/officeDocument/2006/relationships/hyperlink" Target="https://www.researchgate.net/publication/50384415_Six_Sigma_Methodology_Utilization_in_Telecom_Sector_for_Quality_Improvement-_A_DMAIC_Process" TargetMode="External"/><Relationship Id="rId19" Type="http://schemas.openxmlformats.org/officeDocument/2006/relationships/hyperlink" Target="https://www.researchgate.net/scientific-contributions/Dr-AWDHESH-BHARDWAJ-54270590" TargetMode="External"/><Relationship Id="rId18" Type="http://schemas.openxmlformats.org/officeDocument/2006/relationships/hyperlink" Target="https://www.researchgate.net/scientific-contributions/MANISH-55919943?_tp=eyJjb250ZXh0Ijp7ImZpcnN0UGFnZSI6InB1YmxpY2F0aW9uIiwicGFnZSI6InB1YmxpY2F0aW9uIn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8b78bdc5ad_2_0"/>
          <p:cNvSpPr/>
          <p:nvPr/>
        </p:nvSpPr>
        <p:spPr>
          <a:xfrm>
            <a:off x="-150" y="0"/>
            <a:ext cx="9144000" cy="5143500"/>
          </a:xfrm>
          <a:prstGeom prst="rect">
            <a:avLst/>
          </a:prstGeom>
          <a:solidFill>
            <a:srgbClr val="E3F2FD"/>
          </a:solidFill>
          <a:ln cap="flat" cmpd="sng" w="15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g38b78bdc5ad_2_0"/>
          <p:cNvSpPr/>
          <p:nvPr/>
        </p:nvSpPr>
        <p:spPr>
          <a:xfrm>
            <a:off x="0" y="11142"/>
            <a:ext cx="9144000" cy="12162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g38b78bdc5ad_2_0"/>
          <p:cNvSpPr/>
          <p:nvPr/>
        </p:nvSpPr>
        <p:spPr>
          <a:xfrm>
            <a:off x="182880" y="11142"/>
            <a:ext cx="8778300" cy="12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lt1"/>
                </a:solidFill>
              </a:rPr>
              <a:t>Customer Churn Prediction and Reduction</a:t>
            </a:r>
            <a:endParaRPr b="1" sz="23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i="1" lang="en-US" sz="1800">
                <a:solidFill>
                  <a:schemeClr val="lt1"/>
                </a:solidFill>
              </a:rPr>
              <a:t>(Using Lean Six Sigma (DMAIC) and Machine Learning)</a:t>
            </a:r>
            <a:endParaRPr b="1" sz="2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38b78bdc5ad_2_0"/>
          <p:cNvSpPr/>
          <p:nvPr/>
        </p:nvSpPr>
        <p:spPr>
          <a:xfrm>
            <a:off x="182875" y="1680950"/>
            <a:ext cx="8778300" cy="22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ISE 250 – Leading Six Sigma Improvement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b="1" lang="en-US" sz="1600">
                <a:solidFill>
                  <a:schemeClr val="dk1"/>
                </a:solidFill>
              </a:rPr>
              <a:t>Final Project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Utsha Bhattacharjee</a:t>
            </a:r>
            <a:br>
              <a:rPr b="1"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Siddhi Kitawat</a:t>
            </a:r>
            <a:br>
              <a:rPr b="1"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Meera Shah</a:t>
            </a:r>
            <a:br>
              <a:rPr b="1"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Romika Singh</a:t>
            </a:r>
            <a:br>
              <a:rPr b="1"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Lakshmi Durga Davuluri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" name="Google Shape;15;g38b78bdc5ad_2_0"/>
          <p:cNvSpPr/>
          <p:nvPr/>
        </p:nvSpPr>
        <p:spPr>
          <a:xfrm>
            <a:off x="6504687" y="4447834"/>
            <a:ext cx="2646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Professor: Behin Elahi</a:t>
            </a:r>
            <a:br>
              <a:rPr b="1"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Date: 28 - Apr - 2026 </a:t>
            </a:r>
            <a:br>
              <a:rPr b="1" lang="en-US" sz="1600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Introduction: Customer Churn in Telecom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37160" y="658368"/>
            <a:ext cx="8869680" cy="59436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28600" y="658368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 churn occurs when a customer cancels their telecom service and switches to a competitor. It is one of the most critical and costly challenges facing the telecom industry today.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37160" y="1344168"/>
            <a:ext cx="2834640" cy="3246120"/>
          </a:xfrm>
          <a:prstGeom prst="rect">
            <a:avLst/>
          </a:prstGeom>
          <a:solidFill>
            <a:srgbClr val="E3F2FD"/>
          </a:solidFill>
          <a:ln cap="flat" cmpd="sng" w="15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28600" y="13898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🌐  Telecom 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28600" y="1719072"/>
            <a:ext cx="26517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Highest annual churn rate of any major sector — over 30% globally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 switching costs, High competition, Similar service pricing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154680" y="1344168"/>
            <a:ext cx="2834640" cy="324612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46120" y="13898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💰  Revenue Impact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246120" y="1719072"/>
            <a:ext cx="26517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Losing a customer costs 6–7x more than retaining 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5% churn reduction = 25–95% profit increase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Avg churned bill: $75.21/month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1,336 churned = $100,000+ monthly loss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172200" y="1344168"/>
            <a:ext cx="2834640" cy="3246120"/>
          </a:xfrm>
          <a:prstGeom prst="rect">
            <a:avLst/>
          </a:prstGeom>
          <a:solidFill>
            <a:srgbClr val="FFF8E1"/>
          </a:solidFill>
          <a:ln cap="flat" cmpd="sng" w="15225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263640" y="13898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📊  Our Dataset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263640" y="1719072"/>
            <a:ext cx="26517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IBM Telco Customer Churn Dataset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5,043 real customers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25 variables incl. Tenure_Group &amp; Charges_Group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Demographics, services, billing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Target: Churn = Yes / No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Source: Kaggle (free &amp; public)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37160" y="4663440"/>
            <a:ext cx="8869680" cy="36576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The telecom industry loses billions annually due to churn. Our project uses Six Sigma DMAIC + Machine Learning to predict and reduce it.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82875" y="0"/>
            <a:ext cx="8778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7160" y="506450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7150" y="780785"/>
            <a:ext cx="4206300" cy="31455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28600" y="826481"/>
            <a:ext cx="40233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n-US" sz="900">
                <a:solidFill>
                  <a:schemeClr val="dk1"/>
                </a:solidFill>
              </a:rPr>
              <a:t>Machine learning models such as Logistic Regression, Decision Trees, and Random Forest are widely used for churn prediction </a:t>
            </a:r>
            <a:r>
              <a:rPr lang="en-US" sz="1000">
                <a:solidFill>
                  <a:schemeClr val="dk1"/>
                </a:solidFill>
              </a:rPr>
              <a:t> </a:t>
            </a:r>
            <a:r>
              <a:rPr lang="en-US" sz="900">
                <a:solidFill>
                  <a:schemeClr val="dk1"/>
                </a:solidFill>
              </a:rPr>
              <a:t>- (</a:t>
            </a:r>
            <a:r>
              <a:rPr i="1" lang="en-US" sz="900" u="sng">
                <a:solidFill>
                  <a:schemeClr val="dk1"/>
                </a:solidFill>
              </a:rPr>
              <a:t>Huang, Mohand, Brian 2012)</a:t>
            </a:r>
            <a:br>
              <a:rPr i="1" lang="en-US" sz="900">
                <a:solidFill>
                  <a:schemeClr val="dk1"/>
                </a:solidFill>
              </a:rPr>
            </a:br>
            <a:endParaRPr i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Studies show these models help identify customers who are likely to churn in advance - </a:t>
            </a:r>
            <a:r>
              <a:rPr lang="en-US" sz="900" u="sng">
                <a:solidFill>
                  <a:schemeClr val="dk1"/>
                </a:solidFill>
              </a:rPr>
              <a:t>(Neslin et al., 2006)</a:t>
            </a:r>
            <a:br>
              <a:rPr lang="en-US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Advanced techniques like XGBoost and Deep Learning further improve prediction performance - </a:t>
            </a:r>
            <a:r>
              <a:rPr lang="en-US" sz="900" u="sng">
                <a:solidFill>
                  <a:schemeClr val="dk1"/>
                </a:solidFill>
              </a:rPr>
              <a:t>(Chen &amp; Guestrin, 2016; Zhao et al., 2017)</a:t>
            </a:r>
            <a:br>
              <a:rPr lang="en-US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Feature analysis reveals key churn drivers such as contract type, tenure, and monthly charges - </a:t>
            </a:r>
            <a:r>
              <a:rPr lang="en-US" sz="900" u="sng">
                <a:solidFill>
                  <a:schemeClr val="dk1"/>
                </a:solidFill>
              </a:rPr>
              <a:t>(Verbeke et al., 2012)</a:t>
            </a:r>
            <a:br>
              <a:rPr lang="en-US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Proper data preprocessing (handling missing values and imbalances) is required to make telecom models reliable - (</a:t>
            </a:r>
            <a:r>
              <a:rPr lang="en-US" sz="900" u="sng">
                <a:solidFill>
                  <a:schemeClr val="dk1"/>
                </a:solidFill>
              </a:rPr>
              <a:t>Ibrahim AlShourbaji, 2024</a:t>
            </a:r>
            <a:r>
              <a:rPr lang="en-US" sz="900">
                <a:solidFill>
                  <a:schemeClr val="dk1"/>
                </a:solidFill>
              </a:rPr>
              <a:t>)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37160" y="4017826"/>
            <a:ext cx="4206300" cy="502800"/>
          </a:xfrm>
          <a:prstGeom prst="rect">
            <a:avLst/>
          </a:prstGeom>
          <a:solidFill>
            <a:srgbClr val="D0EAF8"/>
          </a:solidFill>
          <a:ln cap="flat" cmpd="sng" w="15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28600" y="4036114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ML enables accurate prediction of customer churn and supports proactive retention strategies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00600" y="506450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Lean Six Sigma (DMAIC)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00600" y="780785"/>
            <a:ext cx="4206300" cy="31455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92050" y="826480"/>
            <a:ext cx="40233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In Telecom, a "defect" is defined as a customer cancellation. Six Sigma helps define the specific financial loss per churned user - </a:t>
            </a:r>
            <a:r>
              <a:rPr lang="en-US" sz="900" u="sng">
                <a:solidFill>
                  <a:schemeClr val="dk1"/>
                </a:solidFill>
              </a:rPr>
              <a:t>(Bhargava et al. 2010)</a:t>
            </a:r>
            <a:br>
              <a:rPr lang="en-US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You must measure the current "Yield" (retained customers). Most Telecoms operate at a 2.0 to 3.0 Sigma level before improvement - </a:t>
            </a:r>
            <a:r>
              <a:rPr lang="en-US" sz="900" u="sng">
                <a:solidFill>
                  <a:schemeClr val="dk1"/>
                </a:solidFill>
              </a:rPr>
              <a:t>(Ghelani 2023)</a:t>
            </a:r>
            <a:br>
              <a:rPr lang="en-US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Root cause analysis often reveals that technical support delays are the #1 driver of churn in broadband services. </a:t>
            </a:r>
            <a:r>
              <a:rPr lang="en-US" sz="900" u="sng">
                <a:solidFill>
                  <a:schemeClr val="dk1"/>
                </a:solidFill>
              </a:rPr>
              <a:t>(</a:t>
            </a:r>
            <a:r>
              <a:rPr lang="en-US" sz="9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Sarrosh</a:t>
            </a:r>
            <a:r>
              <a:rPr lang="en-US" sz="900" u="sng">
                <a:solidFill>
                  <a:schemeClr val="dk1"/>
                </a:solidFill>
              </a:rPr>
              <a:t> et al, 2018)</a:t>
            </a:r>
            <a:br>
              <a:rPr lang="en-US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"Lean" focuses on removing non-value-added steps in the billing process to prevent "Bill Shock," which causes immediate churn - </a:t>
            </a:r>
            <a:r>
              <a:rPr lang="en-US" sz="900" u="sng">
                <a:solidFill>
                  <a:schemeClr val="dk1"/>
                </a:solidFill>
              </a:rPr>
              <a:t>(</a:t>
            </a:r>
            <a:r>
              <a:rPr lang="en-US" sz="9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Abdullah</a:t>
            </a:r>
            <a:r>
              <a:rPr lang="en-US" sz="900" u="sng">
                <a:solidFill>
                  <a:schemeClr val="dk1"/>
                </a:solidFill>
              </a:rPr>
              <a:t> 2022)</a:t>
            </a:r>
            <a:br>
              <a:rPr lang="en-US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900">
                <a:solidFill>
                  <a:schemeClr val="dk1"/>
                </a:solidFill>
              </a:rPr>
              <a:t>Use P-Charts (Attribute Control Charts) to monitor the proportion of churned customers monthly to ensure the process stays "In Control - </a:t>
            </a:r>
            <a:r>
              <a:rPr lang="en-US" sz="900" u="sng">
                <a:solidFill>
                  <a:schemeClr val="dk1"/>
                </a:solidFill>
              </a:rPr>
              <a:t>(Mehdi Imani, 2024)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00600" y="4017826"/>
            <a:ext cx="4206300" cy="502800"/>
          </a:xfrm>
          <a:prstGeom prst="rect">
            <a:avLst/>
          </a:prstGeom>
          <a:solidFill>
            <a:srgbClr val="C8E6C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92040" y="4036114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DMAIC enables systematic improvement of processes that directly impact customer retention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37150" y="4572560"/>
            <a:ext cx="8869800" cy="502800"/>
          </a:xfrm>
          <a:prstGeom prst="rect">
            <a:avLst/>
          </a:prstGeom>
          <a:solidFill>
            <a:srgbClr val="F3E5F5"/>
          </a:solidFill>
          <a:ln cap="flat" cmpd="sng" w="15225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74325" y="4554258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Combining both: </a:t>
            </a: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ML identifies high-risk customers, while DMAIC fixes underlying issues. This integration creates a data-driven and structured approach to churn reduction.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DMAIC Framework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837888" y="2038890"/>
            <a:ext cx="201300" cy="2286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83408" y="1718850"/>
            <a:ext cx="1554600" cy="100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83408" y="1718850"/>
            <a:ext cx="1554600" cy="2925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83408" y="171885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🔍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9127" y="2038890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Identify churn problem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593536" y="1810290"/>
            <a:ext cx="201300" cy="228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039056" y="1490250"/>
            <a:ext cx="1554600" cy="100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039056" y="1490250"/>
            <a:ext cx="1554600" cy="2925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039056" y="149025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📊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084775" y="1810290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Calculate key metrics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349184" y="1581690"/>
            <a:ext cx="201300" cy="228600"/>
          </a:xfrm>
          <a:prstGeom prst="rect">
            <a:avLst/>
          </a:prstGeom>
          <a:solidFill>
            <a:srgbClr val="6B2D8B"/>
          </a:solidFill>
          <a:ln cap="flat" cmpd="sng" w="12700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794704" y="1261650"/>
            <a:ext cx="1554600" cy="100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794704" y="1261650"/>
            <a:ext cx="1554600" cy="292500"/>
          </a:xfrm>
          <a:prstGeom prst="rect">
            <a:avLst/>
          </a:prstGeom>
          <a:solidFill>
            <a:srgbClr val="6B2D8B"/>
          </a:solidFill>
          <a:ln cap="flat" cmpd="sng" w="12700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794704" y="126165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840424" y="1581690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Find drivers + predict churn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104832" y="1353090"/>
            <a:ext cx="201300" cy="2286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550352" y="1033050"/>
            <a:ext cx="1554600" cy="100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550352" y="1033050"/>
            <a:ext cx="1554600" cy="2925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550352" y="103305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⚙️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596072" y="1353090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Apply retention strategies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305999" y="804450"/>
            <a:ext cx="1554600" cy="1005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305999" y="804450"/>
            <a:ext cx="1554600" cy="292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305999" y="80445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📈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351720" y="1124490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Monitor performance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371600" y="3214145"/>
            <a:ext cx="6400800" cy="6402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463040" y="3214145"/>
            <a:ext cx="6217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Structured approach to predict and reduce churn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Phase: Problem Statement &amp; Project Charter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37160" y="685800"/>
            <a:ext cx="2057400" cy="9144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37160" y="713232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Churn 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37160" y="941832"/>
            <a:ext cx="20574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26.5%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377440" y="685800"/>
            <a:ext cx="2057400" cy="914400"/>
          </a:xfrm>
          <a:prstGeom prst="rect">
            <a:avLst/>
          </a:prstGeom>
          <a:solidFill>
            <a:srgbClr val="FFF8E1"/>
          </a:solidFill>
          <a:ln cap="flat" cmpd="sng" w="15225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377440" y="713232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Customers Lost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377440" y="941832"/>
            <a:ext cx="20574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1,336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17720" y="685800"/>
            <a:ext cx="2057400" cy="9144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617720" y="713232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Sigma Level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617720" y="941832"/>
            <a:ext cx="20574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2.12 σ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858000" y="685800"/>
            <a:ext cx="2057400" cy="914400"/>
          </a:xfrm>
          <a:prstGeom prst="rect">
            <a:avLst/>
          </a:prstGeom>
          <a:solidFill>
            <a:srgbClr val="FCE4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858000" y="713232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DPMO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858000" y="941832"/>
            <a:ext cx="20574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264,922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37160" y="1737360"/>
            <a:ext cx="4206240" cy="260604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37160" y="17373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Project Charter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82880" y="2121408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74320" y="2121408"/>
            <a:ext cx="914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88720" y="2121408"/>
            <a:ext cx="3017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26.5% churn — 1,336 of 5,043 customers lost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82880" y="2551176"/>
            <a:ext cx="4114800" cy="393192"/>
          </a:xfrm>
          <a:prstGeom prst="rect">
            <a:avLst/>
          </a:prstGeom>
          <a:solidFill>
            <a:srgbClr val="D0EAF8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74320" y="2551176"/>
            <a:ext cx="914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188720" y="2551176"/>
            <a:ext cx="3017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Reduce churn to below 10% using DMAIC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82880" y="2980944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74320" y="2980944"/>
            <a:ext cx="914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Sigma: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188720" y="2980944"/>
            <a:ext cx="3017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 2.12 → Target 2.78+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82880" y="3410712"/>
            <a:ext cx="4114800" cy="393192"/>
          </a:xfrm>
          <a:prstGeom prst="rect">
            <a:avLst/>
          </a:prstGeom>
          <a:solidFill>
            <a:srgbClr val="D0EAF8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4320" y="3410712"/>
            <a:ext cx="914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Scope: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88720" y="3410712"/>
            <a:ext cx="3017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Cleaned IBM Telco dataset — 5,043 customers, 25 variables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617720" y="1737360"/>
            <a:ext cx="4389120" cy="2606040"/>
          </a:xfrm>
          <a:prstGeom prst="rect">
            <a:avLst/>
          </a:prstGeom>
          <a:solidFill>
            <a:srgbClr val="F8F8F8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617720" y="1737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SIPOC Diagram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663440" y="2121408"/>
            <a:ext cx="429768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663440" y="2121408"/>
            <a:ext cx="320040" cy="393192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663440" y="2121408"/>
            <a:ext cx="320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029200" y="2121408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Suppliers: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035040" y="2121408"/>
            <a:ext cx="2834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Telecom company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663440" y="2551176"/>
            <a:ext cx="4297680" cy="393192"/>
          </a:xfrm>
          <a:prstGeom prst="rect">
            <a:avLst/>
          </a:prstGeom>
          <a:solidFill>
            <a:srgbClr val="E8EAF6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63440" y="2551176"/>
            <a:ext cx="320040" cy="39319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663440" y="2551176"/>
            <a:ext cx="320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029200" y="2551176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Inputs: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035040" y="2551176"/>
            <a:ext cx="2834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Contracts, billing, services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663440" y="2980944"/>
            <a:ext cx="4297680" cy="393192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663440" y="2980944"/>
            <a:ext cx="320040" cy="39319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663440" y="2980944"/>
            <a:ext cx="320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29200" y="2980944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35040" y="2980944"/>
            <a:ext cx="2834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Service delivery + support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63440" y="3410712"/>
            <a:ext cx="4297680" cy="393192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663440" y="3410712"/>
            <a:ext cx="320040" cy="393192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663440" y="3410712"/>
            <a:ext cx="320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029200" y="3410712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Outputs: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035040" y="3410712"/>
            <a:ext cx="2834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 stays or churns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663440" y="3840480"/>
            <a:ext cx="4297680" cy="393192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663440" y="3840480"/>
            <a:ext cx="320040" cy="393192"/>
          </a:xfrm>
          <a:prstGeom prst="rect">
            <a:avLst/>
          </a:prstGeom>
          <a:solidFill>
            <a:srgbClr val="6B2D8B"/>
          </a:solidFill>
          <a:ln cap="flat" cmpd="sng" w="12700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663440" y="3840480"/>
            <a:ext cx="320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029200" y="384048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B2D8B"/>
                </a:solidFill>
                <a:latin typeface="Calibri"/>
                <a:ea typeface="Calibri"/>
                <a:cs typeface="Calibri"/>
                <a:sym typeface="Calibri"/>
              </a:rPr>
              <a:t>Customers: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035040" y="3840480"/>
            <a:ext cx="2834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Telecom subscribers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37155" y="4370855"/>
            <a:ext cx="877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Churn Rate (%)  =  (1,336 / 5,043) × 100  =  26.5%   |   DPMO = (1,336 ÷ 5,043) × 1,000,000 = 264,922   |  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Sigma Level = 0.8406 + √(29.37 − 2.221 ln(264,922)) = 2.12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37150" y="4480550"/>
            <a:ext cx="8869800" cy="4572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Churn Rate (%)  =  (1,336 / 5,043) × 100  =  26.5%   |   DPMO = (1,336 ÷ 5,043) × 1,000,000 = 264,922   |  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Sigma Level = 0.8406 + √(29.37 − 2.221 ln(264,922)) = 2.12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Phase: Voice of Customer &amp; CTQ Tree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59225" y="680450"/>
            <a:ext cx="4251900" cy="3924300"/>
          </a:xfrm>
          <a:prstGeom prst="rect">
            <a:avLst/>
          </a:prstGeom>
          <a:solidFill>
            <a:srgbClr val="F0F8FF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59235" y="726163"/>
            <a:ext cx="425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Voice of Customer (VOC)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50675" y="1091923"/>
            <a:ext cx="4069200" cy="14172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42115" y="1119355"/>
            <a:ext cx="38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✅  Customers WANT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42115" y="1411963"/>
            <a:ext cx="38862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Affordable transparent pricing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Reliable internet with no outages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Flexible contracts — no lock-in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Responsive tech support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50675" y="2600683"/>
            <a:ext cx="4069200" cy="1828800"/>
          </a:xfrm>
          <a:prstGeom prst="rect">
            <a:avLst/>
          </a:prstGeom>
          <a:solidFill>
            <a:srgbClr val="FDED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42115" y="2628115"/>
            <a:ext cx="38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❌  Customers LEAVE Because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42115" y="2920723"/>
            <a:ext cx="38862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monthly bills ($75.21 avg for churned)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Month-to-month contracts — no incentive to stay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tech support included in plan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Electronic check payment — low auto-commitment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Poor onboarding in first 12 months (47.8% churn)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619300" y="669575"/>
            <a:ext cx="4343400" cy="3924300"/>
          </a:xfrm>
          <a:prstGeom prst="rect">
            <a:avLst/>
          </a:prstGeom>
          <a:solidFill>
            <a:srgbClr val="F8F8F8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619290" y="693050"/>
            <a:ext cx="434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CTQ Tree — Critical to Quality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619290" y="1058810"/>
            <a:ext cx="4343400" cy="3474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665010" y="1058810"/>
            <a:ext cx="425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 =  Churn (Yes / No)  — Our Target Variable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65010" y="1497722"/>
            <a:ext cx="411600" cy="502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665010" y="1497722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122210" y="1516010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Contract Type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122203" y="1753750"/>
            <a:ext cx="242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Month-to-month: 43.1%  |  2-yr: 2.4%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665010" y="2156090"/>
            <a:ext cx="411600" cy="5028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665010" y="2156090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122210" y="2174378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Tenure Group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122210" y="2412122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0–12 months: 47.8% — highest risk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665010" y="2814458"/>
            <a:ext cx="411600" cy="502800"/>
          </a:xfrm>
          <a:prstGeom prst="rect">
            <a:avLst/>
          </a:prstGeom>
          <a:solidFill>
            <a:srgbClr val="6B2D8B"/>
          </a:solidFill>
          <a:ln cap="flat" cmpd="sng" w="12700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665010" y="281445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122210" y="2832746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Monthly Charges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122210" y="3070490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Churned avg: $75.21  vs  Retained: $61.46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665010" y="3472826"/>
            <a:ext cx="411600" cy="5028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665010" y="3472826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122210" y="3491114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Payment Method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122210" y="3728858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E-check: 44.6%  vs  Credit card: 15.4%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665010" y="4064969"/>
            <a:ext cx="411600" cy="502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665010" y="4042894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122210" y="406118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Internet Service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122210" y="4298926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Fiber optic: 42.3%  vs  DSL: 18.1%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Phase: Dataset Overview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37160" y="658368"/>
            <a:ext cx="4160520" cy="333756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74320" y="713232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Dataset: 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Cleaned Telco Customer Churn Data</a:t>
            </a:r>
            <a:b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Customers: 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5,043</a:t>
            </a:r>
            <a:b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Features include: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74320" y="1600200"/>
            <a:ext cx="39319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 Demographics (gender, senior citizen, dependents)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Service Usage (internet, streaming, tech support, security)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Billing (monthly charges, total charges, charges group)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Engineered: Tenure_Group, Charges_Group, Churn_Flag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Variable:  Churn (Yes / No)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72000" y="65836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Customer Churn Distribution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pie_churn.png" id="200" name="Google Shape;2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60120"/>
            <a:ext cx="438912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137160" y="4069080"/>
            <a:ext cx="8869680" cy="4572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82880" y="40690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Churn Rate (%)  =  (1,336 / 5,043) × 100  =  26.5%   |   DPMO = (1,336 ÷ 5,043) × 1,000,000 = 264,922   |  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Sigma Level = 0.8406 + √(29.37 − 2.221 ln(264,922)) = 2.12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37160" y="4572000"/>
            <a:ext cx="8869680" cy="438912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28600" y="4581144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Churn Rate: 26.5% → Indicates a serious retention concern. Dataset includes engineered features (Tenure_Group, Charges_Group) for deeper analysis.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Phase: Key Metrics &amp; Insights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57200" y="658368"/>
            <a:ext cx="2560320" cy="1005840"/>
          </a:xfrm>
          <a:prstGeom prst="rect">
            <a:avLst/>
          </a:prstGeom>
          <a:solidFill>
            <a:srgbClr val="FCE4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57200" y="685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Churn Rate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57200" y="932688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26.5</a:t>
            </a:r>
            <a:r>
              <a:rPr b="1" lang="en-US" sz="26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246120" y="658368"/>
            <a:ext cx="2560320" cy="100584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246120" y="685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Sigma Level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246120" y="932688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2.12 σ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035040" y="658368"/>
            <a:ext cx="2560320" cy="100584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035040" y="685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Avg Monthly Charges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035040" y="932688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$67.84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709160" y="1747703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37150" y="4477198"/>
            <a:ext cx="8869800" cy="4665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28600" y="4605331"/>
            <a:ext cx="8686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Month-to-month customers dominate churn (43.1%). Churned customers have significantly lower tenure (18.2 vs 37.8 months). These metrics establish the baseline for the Analyze phase.</a:t>
            </a:r>
            <a:endParaRPr i="1" sz="950">
              <a:solidFill>
                <a:srgbClr val="1B5E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rgbClr val="155272"/>
                </a:solidFill>
                <a:latin typeface="Calibri"/>
                <a:ea typeface="Calibri"/>
                <a:cs typeface="Calibri"/>
                <a:sym typeface="Calibri"/>
              </a:rPr>
              <a:t>Avg Charge (Churned) = $100,480 ÷ 1,336 = $75.21 , Avg Charge (Retained) = $251,882 ÷ 3,707 = $67.84  → Difference = +$7.37 (higher bills = more churn)</a:t>
            </a:r>
            <a:endParaRPr i="1" sz="1000">
              <a:solidFill>
                <a:srgbClr val="1552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950"/>
              <a:buFont typeface="Calibri"/>
              <a:buNone/>
            </a:pPr>
            <a:r>
              <a:t/>
            </a:r>
            <a:endParaRPr b="1" i="1" sz="950">
              <a:solidFill>
                <a:srgbClr val="1B5E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650" y="2071090"/>
            <a:ext cx="4289498" cy="20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3322" y="2089585"/>
            <a:ext cx="3918329" cy="213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Exploratory Data Analysis (EDA)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bar_tenure_group.png" id="233" name="Google Shape;2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621792"/>
            <a:ext cx="4434840" cy="2121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harts/bar_charges_group.png" id="234" name="Google Shape;2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621792"/>
            <a:ext cx="4434840" cy="2121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harts/bar_internet.png" id="235" name="Google Shape;2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" y="2788920"/>
            <a:ext cx="4434840" cy="1920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harts/bar_payment.png" id="236" name="Google Shape;23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2788920"/>
            <a:ext cx="443484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91440" y="4754880"/>
            <a:ext cx="8961120" cy="347472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82880" y="4764024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Key EDA findings: 0–12 month customers churn at 47.8%. High charge customers churn at 34.4%. Fiber optic = 42.3% churn. Electronic check = 44.6% churn.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Churn Distribution by Key Segments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bar_contract2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621792"/>
            <a:ext cx="443484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harts/bar_techsupport.png" id="247" name="Google Shape;2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621792"/>
            <a:ext cx="443484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/>
          <p:nvPr/>
        </p:nvSpPr>
        <p:spPr>
          <a:xfrm>
            <a:off x="91440" y="3035808"/>
            <a:ext cx="2148840" cy="914400"/>
          </a:xfrm>
          <a:prstGeom prst="rect">
            <a:avLst/>
          </a:prstGeom>
          <a:solidFill>
            <a:srgbClr val="FDED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91440" y="30815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Month-to-month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1440" y="338328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43.1% churn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350008" y="3035808"/>
            <a:ext cx="2148840" cy="9144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350008" y="30815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Two-year contract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2350008" y="338328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2.4% churn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608576" y="3035808"/>
            <a:ext cx="2148840" cy="914400"/>
          </a:xfrm>
          <a:prstGeom prst="rect">
            <a:avLst/>
          </a:prstGeom>
          <a:solidFill>
            <a:srgbClr val="FDED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608576" y="30815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tech support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608576" y="338328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42.7% churn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867144" y="3035808"/>
            <a:ext cx="2148840" cy="9144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867144" y="30815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With tech support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867144" y="338328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15.3% churn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91440" y="4005072"/>
            <a:ext cx="8961120" cy="658368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82880" y="4023360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Month-to-month customers churn at 43.1% vs only 2.4% for 2-year contracts. Adding tech support reduces churn from 42.7% to 15.3% — a 27-point improvement.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9e499e066_3_3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d9e499e066_3_3"/>
          <p:cNvSpPr/>
          <p:nvPr/>
        </p:nvSpPr>
        <p:spPr>
          <a:xfrm>
            <a:off x="182880" y="0"/>
            <a:ext cx="877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Correlation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d9e499e066_3_3"/>
          <p:cNvSpPr/>
          <p:nvPr/>
        </p:nvSpPr>
        <p:spPr>
          <a:xfrm>
            <a:off x="137160" y="658368"/>
            <a:ext cx="4251900" cy="42519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d9e499e066_3_3"/>
          <p:cNvSpPr/>
          <p:nvPr/>
        </p:nvSpPr>
        <p:spPr>
          <a:xfrm>
            <a:off x="4663450" y="658379"/>
            <a:ext cx="4343400" cy="41880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d9e499e066_3_3"/>
          <p:cNvSpPr/>
          <p:nvPr/>
        </p:nvSpPr>
        <p:spPr>
          <a:xfrm>
            <a:off x="137160" y="4773168"/>
            <a:ext cx="8869800" cy="3474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g3d9e499e066_3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13" y="744975"/>
            <a:ext cx="4152574" cy="3877525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</p:pic>
      <p:pic>
        <p:nvPicPr>
          <p:cNvPr id="273" name="Google Shape;273;g3d9e499e066_3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200" y="717482"/>
            <a:ext cx="4251900" cy="1467918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</p:pic>
      <p:sp>
        <p:nvSpPr>
          <p:cNvPr id="274" name="Google Shape;274;g3d9e499e066_3_3"/>
          <p:cNvSpPr/>
          <p:nvPr/>
        </p:nvSpPr>
        <p:spPr>
          <a:xfrm>
            <a:off x="4789525" y="2344875"/>
            <a:ext cx="4098300" cy="22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9e499e066_3_3"/>
          <p:cNvSpPr txBox="1"/>
          <p:nvPr/>
        </p:nvSpPr>
        <p:spPr>
          <a:xfrm>
            <a:off x="4955825" y="2523050"/>
            <a:ext cx="3825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•</a:t>
            </a:r>
            <a:r>
              <a:rPr lang="en-US" sz="1200">
                <a:solidFill>
                  <a:srgbClr val="262626"/>
                </a:solidFill>
              </a:rPr>
              <a:t>Tenure has a </a:t>
            </a:r>
            <a:r>
              <a:rPr b="1" lang="en-US" sz="1200">
                <a:solidFill>
                  <a:srgbClr val="262626"/>
                </a:solidFill>
              </a:rPr>
              <a:t>negative correlation (-0.20)</a:t>
            </a:r>
            <a:r>
              <a:rPr lang="en-US" sz="1200">
                <a:solidFill>
                  <a:srgbClr val="262626"/>
                </a:solidFill>
              </a:rPr>
              <a:t> with churn → longer customers are less likely to leave</a:t>
            </a:r>
            <a:endParaRPr sz="12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•</a:t>
            </a:r>
            <a:r>
              <a:rPr lang="en-US" sz="1200">
                <a:solidFill>
                  <a:srgbClr val="262626"/>
                </a:solidFill>
              </a:rPr>
              <a:t>Monthly charges show a </a:t>
            </a:r>
            <a:r>
              <a:rPr b="1" lang="en-US" sz="1200">
                <a:solidFill>
                  <a:srgbClr val="262626"/>
                </a:solidFill>
              </a:rPr>
              <a:t>weak positive correlation (0.10)</a:t>
            </a:r>
            <a:r>
              <a:rPr lang="en-US" sz="1200">
                <a:solidFill>
                  <a:srgbClr val="262626"/>
                </a:solidFill>
              </a:rPr>
              <a:t> → higher charges slightly increase churn</a:t>
            </a:r>
            <a:endParaRPr sz="12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•</a:t>
            </a:r>
            <a:r>
              <a:rPr lang="en-US" sz="1200">
                <a:solidFill>
                  <a:srgbClr val="262626"/>
                </a:solidFill>
              </a:rPr>
              <a:t>Total charges show a </a:t>
            </a:r>
            <a:r>
              <a:rPr b="1" lang="en-US" sz="1200">
                <a:solidFill>
                  <a:srgbClr val="262626"/>
                </a:solidFill>
              </a:rPr>
              <a:t>negative relationship (-0.11)</a:t>
            </a:r>
            <a:endParaRPr sz="12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262626"/>
                </a:solidFill>
              </a:rPr>
              <a:t>long-term customers churn less</a:t>
            </a:r>
            <a:endParaRPr sz="12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•</a:t>
            </a:r>
            <a:r>
              <a:rPr lang="en-US" sz="1200">
                <a:solidFill>
                  <a:srgbClr val="262626"/>
                </a:solidFill>
              </a:rPr>
              <a:t>Overall correlations are </a:t>
            </a:r>
            <a:r>
              <a:rPr b="1" lang="en-US" sz="1200">
                <a:solidFill>
                  <a:srgbClr val="262626"/>
                </a:solidFill>
              </a:rPr>
              <a:t>weak but consistent with EDA findings</a:t>
            </a:r>
            <a:endParaRPr b="1" sz="12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9e499e066_3_42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9e499e066_3_42"/>
          <p:cNvSpPr/>
          <p:nvPr/>
        </p:nvSpPr>
        <p:spPr>
          <a:xfrm>
            <a:off x="182880" y="0"/>
            <a:ext cx="877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Regression Analysis (Linear Regression)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d9e499e066_3_42"/>
          <p:cNvSpPr/>
          <p:nvPr/>
        </p:nvSpPr>
        <p:spPr>
          <a:xfrm>
            <a:off x="182885" y="626418"/>
            <a:ext cx="4251900" cy="42519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d9e499e066_3_42"/>
          <p:cNvSpPr/>
          <p:nvPr/>
        </p:nvSpPr>
        <p:spPr>
          <a:xfrm>
            <a:off x="4663450" y="658379"/>
            <a:ext cx="4343400" cy="41880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d9e499e066_3_42"/>
          <p:cNvSpPr/>
          <p:nvPr/>
        </p:nvSpPr>
        <p:spPr>
          <a:xfrm>
            <a:off x="137160" y="4773168"/>
            <a:ext cx="8869800" cy="3474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g3d9e499e066_3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75" y="717475"/>
            <a:ext cx="4098300" cy="39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d9e499e066_3_42"/>
          <p:cNvSpPr/>
          <p:nvPr/>
        </p:nvSpPr>
        <p:spPr>
          <a:xfrm>
            <a:off x="4825150" y="741225"/>
            <a:ext cx="4050600" cy="119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9e499e066_3_42"/>
          <p:cNvSpPr txBox="1"/>
          <p:nvPr/>
        </p:nvSpPr>
        <p:spPr>
          <a:xfrm>
            <a:off x="4946350" y="755575"/>
            <a:ext cx="37776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62626"/>
                </a:solidFill>
              </a:rPr>
              <a:t>Title: Tenure</a:t>
            </a:r>
            <a:endParaRPr b="1" sz="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62626"/>
                </a:solidFill>
              </a:rPr>
              <a:t>Coefficient: </a:t>
            </a:r>
            <a:r>
              <a:rPr b="1" lang="en-US" sz="1100">
                <a:solidFill>
                  <a:srgbClr val="262626"/>
                </a:solidFill>
              </a:rPr>
              <a:t>-0.0015</a:t>
            </a:r>
            <a:endParaRPr b="1" sz="11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62626"/>
                </a:solidFill>
              </a:rPr>
              <a:t>P-value: </a:t>
            </a:r>
            <a:r>
              <a:rPr b="1" lang="en-US" sz="1100">
                <a:solidFill>
                  <a:srgbClr val="262626"/>
                </a:solidFill>
              </a:rPr>
              <a:t>0.00028 (significant)</a:t>
            </a:r>
            <a:br>
              <a:rPr b="1" lang="en-US" sz="1100">
                <a:solidFill>
                  <a:srgbClr val="262626"/>
                </a:solidFill>
              </a:rPr>
            </a:br>
            <a:r>
              <a:rPr lang="en-US" sz="1100">
                <a:solidFill>
                  <a:srgbClr val="262626"/>
                </a:solidFill>
              </a:rPr>
              <a:t> 👉 Negative effect</a:t>
            </a:r>
            <a:br>
              <a:rPr lang="en-US" sz="1100">
                <a:solidFill>
                  <a:srgbClr val="262626"/>
                </a:solidFill>
              </a:rPr>
            </a:br>
            <a:r>
              <a:rPr lang="en-US" sz="1100">
                <a:solidFill>
                  <a:srgbClr val="262626"/>
                </a:solidFill>
              </a:rPr>
              <a:t> → As tenure increases, churn decreases</a:t>
            </a:r>
            <a:endParaRPr sz="11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9e499e066_3_42"/>
          <p:cNvSpPr/>
          <p:nvPr/>
        </p:nvSpPr>
        <p:spPr>
          <a:xfrm>
            <a:off x="4839550" y="2074550"/>
            <a:ext cx="3991200" cy="119970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d9e499e066_3_42"/>
          <p:cNvSpPr txBox="1"/>
          <p:nvPr/>
        </p:nvSpPr>
        <p:spPr>
          <a:xfrm>
            <a:off x="5027150" y="2138250"/>
            <a:ext cx="37062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62626"/>
                </a:solidFill>
              </a:rPr>
              <a:t>Title: Monthly Charges</a:t>
            </a:r>
            <a:endParaRPr b="1" sz="11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62626"/>
                </a:solidFill>
              </a:rPr>
              <a:t>Coefficient: </a:t>
            </a:r>
            <a:r>
              <a:rPr b="1" lang="en-US" sz="1100">
                <a:solidFill>
                  <a:srgbClr val="262626"/>
                </a:solidFill>
              </a:rPr>
              <a:t>+0.0025</a:t>
            </a:r>
            <a:endParaRPr b="1" sz="11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62626"/>
                </a:solidFill>
              </a:rPr>
              <a:t>P-value: </a:t>
            </a:r>
            <a:r>
              <a:rPr b="1" lang="en-US" sz="1100">
                <a:solidFill>
                  <a:srgbClr val="262626"/>
                </a:solidFill>
              </a:rPr>
              <a:t>&lt; 0.001 (significant)</a:t>
            </a:r>
            <a:br>
              <a:rPr b="1" lang="en-US" sz="1100">
                <a:solidFill>
                  <a:srgbClr val="262626"/>
                </a:solidFill>
              </a:rPr>
            </a:br>
            <a:r>
              <a:rPr lang="en-US" sz="1100">
                <a:solidFill>
                  <a:srgbClr val="262626"/>
                </a:solidFill>
              </a:rPr>
              <a:t> 👉 Positive effect</a:t>
            </a:r>
            <a:br>
              <a:rPr lang="en-US" sz="1100">
                <a:solidFill>
                  <a:srgbClr val="262626"/>
                </a:solidFill>
              </a:rPr>
            </a:br>
            <a:r>
              <a:rPr lang="en-US" sz="1100">
                <a:solidFill>
                  <a:srgbClr val="262626"/>
                </a:solidFill>
              </a:rPr>
              <a:t> → Higher charges increase churn</a:t>
            </a:r>
            <a:endParaRPr sz="11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1" name="Google Shape;291;g3d9e499e066_3_42"/>
          <p:cNvSpPr/>
          <p:nvPr/>
        </p:nvSpPr>
        <p:spPr>
          <a:xfrm>
            <a:off x="4825150" y="3407863"/>
            <a:ext cx="3777600" cy="125940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262626"/>
                </a:solidFill>
              </a:rPr>
              <a:t>Title: Total Charges</a:t>
            </a:r>
            <a:endParaRPr b="1" sz="12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262626"/>
                </a:solidFill>
              </a:rPr>
              <a:t>Coefficient: </a:t>
            </a:r>
            <a:r>
              <a:rPr b="1" lang="en-US" sz="1200">
                <a:solidFill>
                  <a:srgbClr val="262626"/>
                </a:solidFill>
              </a:rPr>
              <a:t>-0.000023</a:t>
            </a:r>
            <a:endParaRPr b="1" sz="12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262626"/>
                </a:solidFill>
              </a:rPr>
              <a:t>P-value: </a:t>
            </a:r>
            <a:r>
              <a:rPr b="1" lang="en-US" sz="1200">
                <a:solidFill>
                  <a:srgbClr val="262626"/>
                </a:solidFill>
              </a:rPr>
              <a:t>significant</a:t>
            </a:r>
            <a:br>
              <a:rPr b="1" lang="en-US" sz="1200">
                <a:solidFill>
                  <a:srgbClr val="262626"/>
                </a:solidFill>
              </a:rPr>
            </a:br>
            <a:r>
              <a:rPr lang="en-US" sz="1200">
                <a:solidFill>
                  <a:srgbClr val="262626"/>
                </a:solidFill>
              </a:rPr>
              <a:t> 👉 Negative effect</a:t>
            </a:r>
            <a:br>
              <a:rPr lang="en-US" sz="1200">
                <a:solidFill>
                  <a:srgbClr val="262626"/>
                </a:solidFill>
              </a:rPr>
            </a:br>
            <a:r>
              <a:rPr lang="en-US" sz="1200">
                <a:solidFill>
                  <a:srgbClr val="262626"/>
                </a:solidFill>
              </a:rPr>
              <a:t> → Long-term/high-spending customers churn less</a:t>
            </a:r>
            <a:endParaRPr sz="1200">
              <a:solidFill>
                <a:srgbClr val="262626"/>
              </a:solidFill>
            </a:endParaRPr>
          </a:p>
        </p:txBody>
      </p:sp>
      <p:sp>
        <p:nvSpPr>
          <p:cNvPr id="292" name="Google Shape;292;g3d9e499e066_3_42"/>
          <p:cNvSpPr txBox="1"/>
          <p:nvPr/>
        </p:nvSpPr>
        <p:spPr>
          <a:xfrm>
            <a:off x="204325" y="4791900"/>
            <a:ext cx="8757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62626"/>
                </a:solidFill>
              </a:rPr>
              <a:t>Linear regression provides initial insights; however, logistic regression is more appropriate as churn is a binary variable.</a:t>
            </a:r>
            <a:endParaRPr b="1" sz="11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9e499e066_8_7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d9e499e066_8_7"/>
          <p:cNvSpPr/>
          <p:nvPr/>
        </p:nvSpPr>
        <p:spPr>
          <a:xfrm>
            <a:off x="182880" y="0"/>
            <a:ext cx="877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Logistic Regressi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Analysis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d9e499e066_8_7"/>
          <p:cNvSpPr/>
          <p:nvPr/>
        </p:nvSpPr>
        <p:spPr>
          <a:xfrm>
            <a:off x="182885" y="626418"/>
            <a:ext cx="4251900" cy="42519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d9e499e066_8_7"/>
          <p:cNvSpPr/>
          <p:nvPr/>
        </p:nvSpPr>
        <p:spPr>
          <a:xfrm>
            <a:off x="4663450" y="658379"/>
            <a:ext cx="4343400" cy="41880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d9e499e066_8_7"/>
          <p:cNvSpPr/>
          <p:nvPr/>
        </p:nvSpPr>
        <p:spPr>
          <a:xfrm>
            <a:off x="137160" y="4773168"/>
            <a:ext cx="8869800" cy="3474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g3d9e499e066_8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75" y="2534575"/>
            <a:ext cx="4074425" cy="211895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</p:pic>
      <p:sp>
        <p:nvSpPr>
          <p:cNvPr id="304" name="Google Shape;304;g3d9e499e066_8_7"/>
          <p:cNvSpPr/>
          <p:nvPr/>
        </p:nvSpPr>
        <p:spPr>
          <a:xfrm>
            <a:off x="275575" y="717475"/>
            <a:ext cx="4003200" cy="546300"/>
          </a:xfrm>
          <a:prstGeom prst="roundRect">
            <a:avLst>
              <a:gd fmla="val 16667" name="adj"/>
            </a:avLst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d9e499e066_8_7"/>
          <p:cNvSpPr txBox="1"/>
          <p:nvPr/>
        </p:nvSpPr>
        <p:spPr>
          <a:xfrm>
            <a:off x="370675" y="717475"/>
            <a:ext cx="3813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262626"/>
                </a:solidFill>
              </a:rPr>
              <a:t>Which factors significantly influence customer churn?</a:t>
            </a:r>
            <a:endParaRPr b="1" sz="12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d9e499e066_8_7"/>
          <p:cNvSpPr txBox="1"/>
          <p:nvPr/>
        </p:nvSpPr>
        <p:spPr>
          <a:xfrm>
            <a:off x="418125" y="1382675"/>
            <a:ext cx="36705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62626"/>
                </a:solidFill>
              </a:rPr>
              <a:t>Binary Logistic Regression was performed using Minitab since churn is a binary variable (Yes/No).</a:t>
            </a:r>
            <a:endParaRPr sz="16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g3d9e499e066_8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450" y="654825"/>
            <a:ext cx="4251900" cy="4006257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9e499e066_8_31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d9e499e066_8_31"/>
          <p:cNvSpPr/>
          <p:nvPr/>
        </p:nvSpPr>
        <p:spPr>
          <a:xfrm>
            <a:off x="182880" y="0"/>
            <a:ext cx="877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Logistic Regression Analysis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d9e499e066_8_31"/>
          <p:cNvSpPr/>
          <p:nvPr/>
        </p:nvSpPr>
        <p:spPr>
          <a:xfrm>
            <a:off x="182875" y="690325"/>
            <a:ext cx="4251900" cy="41880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d9e499e066_8_31"/>
          <p:cNvSpPr/>
          <p:nvPr/>
        </p:nvSpPr>
        <p:spPr>
          <a:xfrm>
            <a:off x="4663450" y="658379"/>
            <a:ext cx="4343400" cy="41880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g3d9e499e066_8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00" y="835750"/>
            <a:ext cx="3991375" cy="38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d9e499e066_8_31"/>
          <p:cNvSpPr txBox="1"/>
          <p:nvPr/>
        </p:nvSpPr>
        <p:spPr>
          <a:xfrm>
            <a:off x="4777650" y="1608625"/>
            <a:ext cx="4098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1900">
                <a:solidFill>
                  <a:srgbClr val="262626"/>
                </a:solidFill>
              </a:rPr>
              <a:t>Tenure reduces churn probability</a:t>
            </a:r>
            <a:endParaRPr sz="1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</a:t>
            </a:r>
            <a:r>
              <a:rPr lang="en-US" sz="1900">
                <a:solidFill>
                  <a:srgbClr val="262626"/>
                </a:solidFill>
              </a:rPr>
              <a:t>Monthly charges increase churn risk</a:t>
            </a:r>
            <a:endParaRPr sz="1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</a:t>
            </a:r>
            <a:r>
              <a:rPr lang="en-US" sz="1900">
                <a:solidFill>
                  <a:srgbClr val="262626"/>
                </a:solidFill>
              </a:rPr>
              <a:t>Month-to-month contracts significantly increase churn</a:t>
            </a:r>
            <a:endParaRPr sz="1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</a:t>
            </a:r>
            <a:r>
              <a:rPr lang="en-US" sz="1900">
                <a:solidFill>
                  <a:srgbClr val="262626"/>
                </a:solidFill>
              </a:rPr>
              <a:t>Lack of tech support increases churn</a:t>
            </a:r>
            <a:endParaRPr sz="1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</a:t>
            </a:r>
            <a:r>
              <a:rPr lang="en-US" sz="1900">
                <a:solidFill>
                  <a:srgbClr val="262626"/>
                </a:solidFill>
              </a:rPr>
              <a:t>Significant variables identified using p-values</a:t>
            </a:r>
            <a:endParaRPr sz="19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d9e499e066_8_31"/>
          <p:cNvSpPr/>
          <p:nvPr/>
        </p:nvSpPr>
        <p:spPr>
          <a:xfrm>
            <a:off x="4837025" y="800625"/>
            <a:ext cx="3943800" cy="63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Binary Logistic Regression: Churn_Flag versus tenure, MonthlyCharges, TotalCharges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Predictive Dashboard &amp; Future Research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37160" y="658368"/>
            <a:ext cx="4251960" cy="301752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82880" y="68580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Predictive Monitoring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228600" y="1078992"/>
            <a:ext cx="406908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274320" y="1078992"/>
            <a:ext cx="11887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🤖 Model: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481328" y="1078992"/>
            <a:ext cx="27432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Logistic Regression — 77% 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28600" y="1591056"/>
            <a:ext cx="4069080" cy="448056"/>
          </a:xfrm>
          <a:prstGeom prst="rect">
            <a:avLst/>
          </a:prstGeom>
          <a:solidFill>
            <a:srgbClr val="D0EAF8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274320" y="1591056"/>
            <a:ext cx="11887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📅 Frequency: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481328" y="1591056"/>
            <a:ext cx="27432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Runs monthly on all active customers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228600" y="2103120"/>
            <a:ext cx="406908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74320" y="2103120"/>
            <a:ext cx="11887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🚩 Flag: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1481328" y="2103120"/>
            <a:ext cx="27432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Customers with churn probability &gt; 70%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228600" y="2615184"/>
            <a:ext cx="4069080" cy="448056"/>
          </a:xfrm>
          <a:prstGeom prst="rect">
            <a:avLst/>
          </a:prstGeom>
          <a:solidFill>
            <a:srgbClr val="D0EAF8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274320" y="2615184"/>
            <a:ext cx="11887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📞 Action: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1481328" y="2615184"/>
            <a:ext cx="27432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Retention team contacts flagged customers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228600" y="3127248"/>
            <a:ext cx="406908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274320" y="3127248"/>
            <a:ext cx="11887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🎯 Goal: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1481328" y="3127248"/>
            <a:ext cx="27432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Prevent churn BEFORE it happens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663440" y="614527"/>
            <a:ext cx="434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ML Model Comarison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137160" y="3749040"/>
            <a:ext cx="8869680" cy="896112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228600" y="37764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Future Research: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228600" y="4069080"/>
            <a:ext cx="8686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Add XGBoost + deep learning for accuracy beyond 77%   •   Build real-time Python dashboard — deploy on GitHub   •   Publish DMAIC + ML framework in Sustainability (MDPI) journal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137160" y="4690872"/>
            <a:ext cx="8869680" cy="347472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228600" y="4700016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Our predictive dashboard prevents churn before it happens — not after. This project is the foundation for a published research paper. Thank you Professor Elahi and class!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4956016" y="3202679"/>
            <a:ext cx="389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Decision Tree achieved 100% training accuracy but only 68.2% test accuracy, indicating overfitting. This is why Logistic Regression was selected as the preferred model</a:t>
            </a:r>
            <a:endParaRPr sz="800"/>
          </a:p>
        </p:txBody>
      </p:sp>
      <p:pic>
        <p:nvPicPr>
          <p:cNvPr id="351" name="Google Shape;35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700" y="685800"/>
            <a:ext cx="3771924" cy="24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Churn Prediction Using Machine Learning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37160" y="658368"/>
            <a:ext cx="4251960" cy="1389888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228600" y="70408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ML Model Applied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274320" y="10332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Logistic Regression: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2103120" y="10332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77.0% 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274320" y="13350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Decision Tree: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2103120" y="133502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68.2</a:t>
            </a: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%  ·  AUC 0.63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274320" y="16367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Random Forest: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2103120" y="16367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75.6%  ·  AUC 0.81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663440" y="658368"/>
            <a:ext cx="4343400" cy="1389888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4754880" y="70408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Key Predictors Identified: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754880" y="1005840"/>
            <a:ext cx="4160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Contract Type (Month-to-month)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Tenure (0–12 months)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Payment Method (Electronic Check)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Monthly Charges (High spenders)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137160" y="2130552"/>
            <a:ext cx="4251960" cy="1435608"/>
          </a:xfrm>
          <a:prstGeom prst="rect">
            <a:avLst/>
          </a:prstGeom>
          <a:solidFill>
            <a:srgbClr val="F0F8FC"/>
          </a:solidFill>
          <a:ln cap="flat" cmpd="sng" w="152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228600" y="21762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Model Evaluation Insights: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228600" y="2487168"/>
            <a:ext cx="40690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Logistic Regression and Random Forest show consistent performance (~77%), while Decision Tree underperforms at 68% due to overfitting.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Indicates strong and stable patterns in customer behavior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single model dominates → results are reliable and not random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4663440" y="2130552"/>
            <a:ext cx="4343400" cy="1435608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754880" y="2176272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754880" y="2487168"/>
            <a:ext cx="41605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Machine learning models confirm that customer churn is predictable and driven by identifiable behavioral and service factors.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137160" y="3657600"/>
            <a:ext cx="8869680" cy="105156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228600" y="37033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Business Value of Prediction: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228600" y="4005072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Enables early identification of high-risk customers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Supports targeted retention strategies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Reduces reactive decision-making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663440" y="3840480"/>
            <a:ext cx="4343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Prediction transforms churn analysis from reactive understanding to proactive prevention.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37160" y="4754880"/>
            <a:ext cx="8869680" cy="347472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228600" y="4764024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Prediction transforms churn analysis from reactive understanding to proactive prevention.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Phase: Root Cause Analysis &amp; Key Findings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137160" y="658368"/>
            <a:ext cx="4251960" cy="397764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82880" y="68580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Fishbone (Ishikawa) Diagram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228600" y="1051560"/>
            <a:ext cx="4069080" cy="3200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228600" y="105156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Effect: Customer Churn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228600" y="1463040"/>
            <a:ext cx="777240" cy="3931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228600" y="1463040"/>
            <a:ext cx="777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1051560" y="1499616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monthly charges — churned avg $75.21 (+$14 vs retained)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228600" y="1938528"/>
            <a:ext cx="777240" cy="39319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228600" y="1938528"/>
            <a:ext cx="777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1051560" y="197510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Month-to-month = 43.1% vs 2-year = 2.4% churn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228600" y="2414016"/>
            <a:ext cx="777240" cy="393192"/>
          </a:xfrm>
          <a:prstGeom prst="rect">
            <a:avLst/>
          </a:prstGeom>
          <a:solidFill>
            <a:srgbClr val="6B2D8B"/>
          </a:solidFill>
          <a:ln cap="flat" cmpd="sng" w="12700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228600" y="2414016"/>
            <a:ext cx="777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051560" y="245059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Fiber optic = 42.3% churn — quality or price mismatch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228600" y="2889504"/>
            <a:ext cx="777240" cy="39319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228600" y="2889504"/>
            <a:ext cx="777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1051560" y="2926080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tech support = 42.7% churn vs 15.3% with support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228600" y="3364992"/>
            <a:ext cx="777240" cy="393192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228600" y="3364992"/>
            <a:ext cx="777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051560" y="340156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Electronic check = 44.6% vs credit card = 15.4%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228600" y="3840480"/>
            <a:ext cx="777240" cy="393192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228600" y="3840480"/>
            <a:ext cx="777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1051560" y="3877056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0–12 months = 47.8% churn — critical onboarding window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663440" y="685800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Pareto Chart — Ranked Churn Drivers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bar_pareto.png" id="412" name="Google Shape;4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1005840"/>
            <a:ext cx="4343400" cy="363016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3"/>
          <p:cNvSpPr/>
          <p:nvPr/>
        </p:nvSpPr>
        <p:spPr>
          <a:xfrm>
            <a:off x="137160" y="4690872"/>
            <a:ext cx="8869680" cy="347472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228600" y="4700016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Pareto analysis: Top 3 drivers — Early tenure (47.8%), Electronic check (44.6%), Month-to-month contract (43.1%). These 3 alone explain majority of churn.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Phase: Data-Backed Recommendations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103976" y="685800"/>
            <a:ext cx="502800" cy="19659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103976" y="141732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606896" y="685800"/>
            <a:ext cx="3931800" cy="196590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98336" y="73152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Contract Upgrade Incentive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698336" y="1033272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Month-to-month = 43.1% churn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744036" y="136934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Fix: Offer 15–25% discount to switch to 1-year or 2-year contract within first 90 days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1,184 ÷ 2,744 = 43.1% (Month-to-month)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698336" y="169164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2-year contract churn = only 2.4%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698336" y="2098548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Largest lever — ~8–10 point churn reduction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30 ÷ 1,236 = 2.4% (2-year)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Huge difference = high churn driver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103976" y="2743200"/>
            <a:ext cx="502800" cy="19659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03976" y="347472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606896" y="2743200"/>
            <a:ext cx="3931800" cy="196590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98336" y="278892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Early Tenure Onboarding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698336" y="3090672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0–12 months = 47.8% churn (highest risk)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98336" y="335584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Fix: Proactive check-in calls at months 3, 6, and 9 with loyalty offers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733 ÷ 1,534 = 47.8% (0–12 months)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698336" y="374904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49+ month customers churn at only 9.7%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698336" y="4123936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Retain customers past critical 12-month window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156 ÷ 1,606 = 9.7% (49+ months)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Early customers are highest risk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4630256" y="685800"/>
            <a:ext cx="502800" cy="1965900"/>
          </a:xfrm>
          <a:prstGeom prst="rect">
            <a:avLst/>
          </a:prstGeom>
          <a:solidFill>
            <a:srgbClr val="6B2D8B"/>
          </a:solidFill>
          <a:ln cap="flat" cmpd="sng" w="12700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4630256" y="141732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5133176" y="685800"/>
            <a:ext cx="3931800" cy="196590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5224616" y="73152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2D8B"/>
                </a:solidFill>
                <a:latin typeface="Calibri"/>
                <a:ea typeface="Calibri"/>
                <a:cs typeface="Calibri"/>
                <a:sym typeface="Calibri"/>
              </a:rPr>
              <a:t>Auto-Pay Migration Incentive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224616" y="1033272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Electronic check = 44.6% churn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5224616" y="129844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Fix: $5/month credit to switch to bank transfer or credit card auto-pay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758 ÷ 1,699 = 44.6% (E-check)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5224616" y="169164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Credit card churn = only 15.4%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5224616" y="2061973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3x reduction in payment-related churn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168 ÷ 1,089 = 15.4% (Credit card)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Auto-pay reduces churn ~3x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4630256" y="2743200"/>
            <a:ext cx="502800" cy="19659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4630256" y="347472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5133176" y="2743200"/>
            <a:ext cx="3931800" cy="196590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5224616" y="278892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Tech Support Bundle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224616" y="3090672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No tech support = 42.7% churn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5224616" y="335584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Fix: Include tech support free in all fiber optic plans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630 ÷ 1,474 = 42.7% (No support)</a:t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5224616" y="374904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With tech support → churn drops to 15.3%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5224616" y="4123936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27-point churn reduction for fiber customers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111 ÷ 871 = 12.7% (With support)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Support reduces churn by ~30 pts</a:t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137160" y="4773168"/>
            <a:ext cx="8869680" cy="347472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228600" y="478231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All 4 recommendations are directly backed by data from this dataset. Each targets the specific root cause confirmed in our Analyze phase.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Phase: Projected Impact &amp; Sigma Improvement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137160" y="658368"/>
            <a:ext cx="2057400" cy="960120"/>
          </a:xfrm>
          <a:prstGeom prst="rect">
            <a:avLst/>
          </a:prstGeom>
          <a:solidFill>
            <a:srgbClr val="FCE4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137160" y="68580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Churn: Before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37160" y="91440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26.5%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2377440" y="658368"/>
            <a:ext cx="2057400" cy="96012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2377440" y="68580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Churn: After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2377440" y="91440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~10%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4617720" y="658368"/>
            <a:ext cx="2057400" cy="960120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4617720" y="68580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Sigma: Before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4617720" y="91440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2.12 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6858000" y="658368"/>
            <a:ext cx="2057400" cy="96012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6858000" y="68580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Sigma: After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6858000" y="91440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2.78 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137160" y="1719072"/>
            <a:ext cx="4251960" cy="2862072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82880" y="1746504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Before vs After Improvements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182880" y="2084832"/>
            <a:ext cx="4160520" cy="3657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228600" y="20848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1600200" y="20848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2514600" y="2084832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3566160" y="208483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182880" y="2487168"/>
            <a:ext cx="4160520" cy="384048"/>
          </a:xfrm>
          <a:prstGeom prst="rect">
            <a:avLst/>
          </a:prstGeom>
          <a:solidFill>
            <a:srgbClr val="FCE4EC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228600" y="24871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Churn 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1600200" y="2487168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26.5%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2514600" y="2487168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~10%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3566160" y="2487168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−16.5 pts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182880" y="2871216"/>
            <a:ext cx="41605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228600" y="287121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Customers Lost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1600200" y="2871216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1,336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2514600" y="2871216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~504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3566160" y="2871216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−832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182880" y="3255264"/>
            <a:ext cx="4160520" cy="384048"/>
          </a:xfrm>
          <a:prstGeom prst="rect">
            <a:avLst/>
          </a:prstGeom>
          <a:solidFill>
            <a:srgbClr val="FCE4EC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228600" y="325526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DPMO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1600200" y="3255264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264,922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2514600" y="325526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100,000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3566160" y="325526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−164,922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182880" y="3639312"/>
            <a:ext cx="41605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228600" y="363931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Sigma Level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1600200" y="363931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2514600" y="3639312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2.78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3566160" y="363931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+0.66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182880" y="4023360"/>
            <a:ext cx="4160520" cy="384048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228600" y="40233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Revenue Saved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1600200" y="402336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2514600" y="402336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$62,552/mo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3566160" y="4023360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+$63K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4663440" y="174650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Projected Churn Reduction (%)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bar_projected.png" id="508" name="Google Shape;5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2029968"/>
            <a:ext cx="43434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5"/>
          <p:cNvSpPr/>
          <p:nvPr/>
        </p:nvSpPr>
        <p:spPr>
          <a:xfrm>
            <a:off x="137150" y="4590301"/>
            <a:ext cx="8869800" cy="4572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228600" y="4672575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All 4 recommendations project churn dropping from 26.5% to 10% — improving sigma from 2.12 to 2.78 and saving approximately $62,552 per month in retained revenue.</a:t>
            </a:r>
            <a:endParaRPr i="1" sz="1000">
              <a:solidFill>
                <a:srgbClr val="1B5E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rgbClr val="155272"/>
                </a:solidFill>
                <a:latin typeface="Calibri"/>
                <a:ea typeface="Calibri"/>
                <a:cs typeface="Calibri"/>
                <a:sym typeface="Calibri"/>
              </a:rPr>
              <a:t>New DPMO = (504 ÷ 5,043) × 1,000,000 ≈ 100,000 , New Sigma ≈ 2.78  → Improvement = +0.66 sigma</a:t>
            </a:r>
            <a:endParaRPr i="1" sz="1000">
              <a:solidFill>
                <a:srgbClr val="1552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t/>
            </a:r>
            <a:endParaRPr i="1" sz="1000">
              <a:solidFill>
                <a:srgbClr val="1B5E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6"/>
          <p:cNvSpPr/>
          <p:nvPr/>
        </p:nvSpPr>
        <p:spPr>
          <a:xfrm>
            <a:off x="0" y="0"/>
            <a:ext cx="9144000" cy="4941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182880" y="-66225"/>
            <a:ext cx="877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Phase: Monitoring Plan &amp; KPIs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91440" y="551459"/>
            <a:ext cx="1600200" cy="1188600"/>
          </a:xfrm>
          <a:prstGeom prst="rect">
            <a:avLst/>
          </a:prstGeom>
          <a:solidFill>
            <a:srgbClr val="FCE4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91440" y="6858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KPI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91440" y="88696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Monthly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Churn 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91440" y="143560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Target: &lt;10%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1883664" y="551459"/>
            <a:ext cx="1600200" cy="1188600"/>
          </a:xfrm>
          <a:prstGeom prst="rect">
            <a:avLst/>
          </a:prstGeom>
          <a:solidFill>
            <a:srgbClr val="E8F5E9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1883664" y="6858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KPI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1883664" y="88696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Sigma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1883664" y="143560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Target: 2.78+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3675888" y="551459"/>
            <a:ext cx="1600200" cy="11886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3675888" y="6858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KPI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3675888" y="88696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Avg Churn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Tenure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3675888" y="143560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Track &lt;12mo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5468112" y="551459"/>
            <a:ext cx="1600200" cy="1188600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5468112" y="6858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KPI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5468112" y="88696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M-t-M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Contract 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5468112" y="143560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7260336" y="551459"/>
            <a:ext cx="1600200" cy="1188600"/>
          </a:xfrm>
          <a:prstGeom prst="rect">
            <a:avLst/>
          </a:prstGeom>
          <a:solidFill>
            <a:srgbClr val="F3E5F5"/>
          </a:solidFill>
          <a:ln cap="flat" cmpd="sng" w="15225">
            <a:solidFill>
              <a:srgbClr val="6B2D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7260336" y="6858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KPI 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7260336" y="88696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E-Check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Usage 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7260336" y="143560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137150" y="1825674"/>
            <a:ext cx="4251900" cy="27543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228605" y="1797333"/>
            <a:ext cx="416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1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Control Plan (P-Chart in Minitab)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228600" y="2034281"/>
            <a:ext cx="4069200" cy="3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4663440" y="1993716"/>
            <a:ext cx="4343400" cy="2359200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4709160" y="2021148"/>
            <a:ext cx="425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Response Plan if Churn Rises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4754880" y="2368620"/>
            <a:ext cx="4160400" cy="594300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4846320" y="2405196"/>
            <a:ext cx="397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Level 1 — Churn &gt; 20%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4846320" y="2670372"/>
            <a:ext cx="397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Activate contract upgrade discount campaign immediately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4754880" y="3026988"/>
            <a:ext cx="4160400" cy="594300"/>
          </a:xfrm>
          <a:prstGeom prst="rect">
            <a:avLst/>
          </a:prstGeom>
          <a:solidFill>
            <a:srgbClr val="FDEDEC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4846320" y="3063564"/>
            <a:ext cx="397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Level 2 — Churn &gt; 25%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4846320" y="3328740"/>
            <a:ext cx="397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Launch emergency retention program for all at-risk customers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4754880" y="3685356"/>
            <a:ext cx="4160400" cy="594300"/>
          </a:xfrm>
          <a:prstGeom prst="rect">
            <a:avLst/>
          </a:prstGeom>
          <a:solidFill>
            <a:srgbClr val="FCE4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4846320" y="3721932"/>
            <a:ext cx="397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Level 3 — Churn &gt; 30%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4846320" y="3987108"/>
            <a:ext cx="397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Restart full DMAIC cycle from Define phase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137160" y="4637627"/>
            <a:ext cx="8869800" cy="4116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228600" y="4655915"/>
            <a:ext cx="8686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The Control plan uses monthly P-Charts and a 3-level response plan to ensure improvements are permanent and churn does not revert.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p16"/>
          <p:cNvPicPr preferRelativeResize="0"/>
          <p:nvPr/>
        </p:nvPicPr>
        <p:blipFill rotWithShape="1">
          <a:blip r:embed="rId3">
            <a:alphaModFix/>
          </a:blip>
          <a:srcRect b="0" l="0" r="6847" t="0"/>
          <a:stretch/>
        </p:blipFill>
        <p:spPr>
          <a:xfrm>
            <a:off x="804730" y="2824726"/>
            <a:ext cx="3154799" cy="167160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6"/>
          <p:cNvSpPr/>
          <p:nvPr/>
        </p:nvSpPr>
        <p:spPr>
          <a:xfrm>
            <a:off x="274320" y="2028342"/>
            <a:ext cx="77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Monitor: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1051560" y="2028342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Monthly churn rate using P-Chart in Minitab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228600" y="2412390"/>
            <a:ext cx="4069200" cy="347400"/>
          </a:xfrm>
          <a:prstGeom prst="rect">
            <a:avLst/>
          </a:prstGeom>
          <a:solidFill>
            <a:srgbClr val="D0EAF8"/>
          </a:solidFill>
          <a:ln cap="flat" cmpd="sng" w="9525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274320" y="2412390"/>
            <a:ext cx="77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UCL: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1051560" y="2412390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0.32 (Upper Control Limit)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Conclusion: Key Takeaways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137150" y="658375"/>
            <a:ext cx="4251900" cy="4023300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228600" y="704088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What We Found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228600" y="1051560"/>
            <a:ext cx="40690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Churn rate of 26.5% (1,336 customers) — sigma level 2.12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Month-to-month contracts: 43.1% churn vs 2-year: only 2.4%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First 12 months are critical — 47.8% churn in early tenure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Electronic check = 44.6% vs credit card = 15.4% churn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Chi-Square p = 0.000 — all findings statistically proven at 99.9%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ML models confirm churn is predictable — Logistic Regression achieves 77% accuracy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tech support = 42.7% churn vs 15.3% with tech support</a:t>
            </a:r>
            <a:endParaRPr sz="10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 recall for churned customers is ~45% — future work will use class balancing (SMOTE) to improve detection of at-risk customers</a:t>
            </a:r>
            <a:endParaRPr sz="10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4663450" y="658375"/>
            <a:ext cx="4343400" cy="4023300"/>
          </a:xfrm>
          <a:prstGeom prst="rect">
            <a:avLst/>
          </a:prstGeom>
          <a:solidFill>
            <a:srgbClr val="1B5E7B"/>
          </a:solidFill>
          <a:ln cap="flat" cmpd="sng" w="15225">
            <a:solidFill>
              <a:srgbClr val="1552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4754880" y="704088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Achieved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4754880" y="11247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Churn Rate: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6217920" y="112471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26.5% → ~10% (target)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4754880" y="15361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Sigma Level: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6217920" y="153619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2.12 → 2.78 sigma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4754880" y="194767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Revenue Saved: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6217920" y="194767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$62,552/month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4754880" y="235915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DPMO: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6217920" y="235915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264,922 → 100,000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4754880" y="2862072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Data-Backed Recommendations: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4754880" y="3182112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 Upgrade Incentive (15-25% discount)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4754880" y="356616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 Tenure Onboarding (month 3, 6, 9 check-ins)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4754880" y="3950208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Auto-Pay Migration ($5/month credit)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4754880" y="4334256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Support Bundle (free with fiber optic)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0" y="4746768"/>
            <a:ext cx="9144000" cy="3474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182880" y="4746768"/>
            <a:ext cx="8778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DMAIC + Machine Learning = A proven, data-driven framework to predict and reduce telecom customer churn.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 &amp; Research Directions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91440" y="923079"/>
            <a:ext cx="2148900" cy="18288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91440" y="987087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137160" y="1471719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ML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137160" y="1864911"/>
            <a:ext cx="205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A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0EAF5"/>
                </a:solidFill>
                <a:latin typeface="Calibri"/>
                <a:ea typeface="Calibri"/>
                <a:cs typeface="Calibri"/>
                <a:sym typeface="Calibri"/>
              </a:rPr>
              <a:t>Add XGBoost and Deep Learning to push accuracy beyond 78%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2350008" y="923079"/>
            <a:ext cx="2148900" cy="1828800"/>
          </a:xfrm>
          <a:prstGeom prst="rect">
            <a:avLst/>
          </a:prstGeom>
          <a:solidFill>
            <a:srgbClr val="155272"/>
          </a:solidFill>
          <a:ln cap="flat" cmpd="sng" w="12700">
            <a:solidFill>
              <a:srgbClr val="155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2350008" y="987087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2395728" y="1471719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2395728" y="1864911"/>
            <a:ext cx="205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A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0EAF5"/>
                </a:solidFill>
                <a:latin typeface="Calibri"/>
                <a:ea typeface="Calibri"/>
                <a:cs typeface="Calibri"/>
                <a:sym typeface="Calibri"/>
              </a:rPr>
              <a:t>Build Python dashboard deployed on GitHub for live churn monitoring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4608576" y="923079"/>
            <a:ext cx="2148900" cy="18288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4608576" y="987087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📰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4654296" y="1471719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Journal Publication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4654296" y="1864911"/>
            <a:ext cx="205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A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0EAF5"/>
                </a:solidFill>
                <a:latin typeface="Calibri"/>
                <a:ea typeface="Calibri"/>
                <a:cs typeface="Calibri"/>
                <a:sym typeface="Calibri"/>
              </a:rPr>
              <a:t>Submit to Sustainability MDPI — open access, 6-8 week review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6867144" y="923079"/>
            <a:ext cx="2148900" cy="1828800"/>
          </a:xfrm>
          <a:prstGeom prst="rect">
            <a:avLst/>
          </a:prstGeom>
          <a:solidFill>
            <a:srgbClr val="155272"/>
          </a:solidFill>
          <a:ln cap="flat" cmpd="sng" w="12700">
            <a:solidFill>
              <a:srgbClr val="155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6867144" y="987087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6912864" y="1471719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to Other Markets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6912864" y="1864911"/>
            <a:ext cx="205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A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0EAF5"/>
                </a:solidFill>
                <a:latin typeface="Calibri"/>
                <a:ea typeface="Calibri"/>
                <a:cs typeface="Calibri"/>
                <a:sym typeface="Calibri"/>
              </a:rPr>
              <a:t>Test DMAIC+ML framework on other telecom markets and industries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91450" y="2860385"/>
            <a:ext cx="8961000" cy="896100"/>
          </a:xfrm>
          <a:prstGeom prst="rect">
            <a:avLst/>
          </a:prstGeom>
          <a:solidFill>
            <a:srgbClr val="F0F8FC"/>
          </a:solidFill>
          <a:ln cap="flat" cmpd="sng" w="15225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182880" y="2900101"/>
            <a:ext cx="877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5E7B"/>
                </a:solidFill>
                <a:latin typeface="Calibri"/>
                <a:ea typeface="Calibri"/>
                <a:cs typeface="Calibri"/>
                <a:sym typeface="Calibri"/>
              </a:rPr>
              <a:t>Planned Journal Paper: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182880" y="3115280"/>
            <a:ext cx="8778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"Integrating DMAIC and Machine Learning for Customer Churn Prediction and Reduction in the Telecom Industry: A Statistical Process Control Approach"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182880" y="3425291"/>
            <a:ext cx="8778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Target: Sustainability MDPI (open access)  |   Extensions: XGBoost, real-time dashboard, GitHub deployment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91440" y="3850923"/>
            <a:ext cx="8961000" cy="896100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182880" y="3887499"/>
            <a:ext cx="8778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Limitations of Current Study: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182880" y="4161819"/>
            <a:ext cx="8778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Dataset is historical (IBM Telco) — not real-time live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ML accuracy capped at ~77% — advanced models (XGBoost, Neural Nets) may improve further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Recommendations are projections — real-world A/B testing needed to validate impact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0" y="4831572"/>
            <a:ext cx="9144000" cy="3201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182880" y="4831572"/>
            <a:ext cx="8778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— Professor Elahi and ISE 250 class! Questions welcome.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 txBox="1"/>
          <p:nvPr/>
        </p:nvSpPr>
        <p:spPr>
          <a:xfrm>
            <a:off x="44250" y="564136"/>
            <a:ext cx="89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/>
              <a:t>Beyond the scope of this ISE 250 project, we are interested in further developing this work into a real-world application</a:t>
            </a:r>
            <a:endParaRPr sz="1200" u="sng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9e499e066_0_0"/>
          <p:cNvSpPr/>
          <p:nvPr/>
        </p:nvSpPr>
        <p:spPr>
          <a:xfrm>
            <a:off x="0" y="0"/>
            <a:ext cx="9144000" cy="569100"/>
          </a:xfrm>
          <a:prstGeom prst="rect">
            <a:avLst/>
          </a:prstGeom>
          <a:solidFill>
            <a:srgbClr val="1B5E7B"/>
          </a:solidFill>
          <a:ln cap="flat" cmpd="sng" w="12700">
            <a:solidFill>
              <a:srgbClr val="1B5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d9e499e066_0_0"/>
          <p:cNvSpPr/>
          <p:nvPr/>
        </p:nvSpPr>
        <p:spPr>
          <a:xfrm>
            <a:off x="0" y="0"/>
            <a:ext cx="9144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6" name="Google Shape;626;g3d9e499e066_0_0"/>
          <p:cNvGraphicFramePr/>
          <p:nvPr/>
        </p:nvGraphicFramePr>
        <p:xfrm>
          <a:off x="73800" y="619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{1A7CE88E-20EC-4196-A973-89A20666764C}</a:tableStyleId>
              </a:tblPr>
              <a:tblGrid>
                <a:gridCol w="489800"/>
                <a:gridCol w="5659325"/>
                <a:gridCol w="2816300"/>
              </a:tblGrid>
              <a:tr h="23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S.No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Research Paper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Author &amp; Year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125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3"/>
                        </a:rPr>
                        <a:t>Customer churn prediction in telecommunications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Bingquan Huang,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4"/>
                        </a:rPr>
                        <a:t>Mohand Tahar Kechadi</a:t>
                      </a:r>
                      <a:r>
                        <a:rPr lang="en-US" sz="800"/>
                        <a:t>, Brian Buckley, 2012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52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5"/>
                        </a:rPr>
                        <a:t>Defection Detection: Measuring and Understanding the Predictive Accuracy of Customer Churn Models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uFill>
                            <a:noFill/>
                          </a:uFill>
                          <a:hlinkClick r:id="rId6"/>
                        </a:rPr>
                        <a:t>Scott A. Neslin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7"/>
                        </a:rPr>
                        <a:t>Sunil Gupta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8"/>
                        </a:rPr>
                        <a:t>Wagner Kamakura</a:t>
                      </a:r>
                      <a:r>
                        <a:rPr lang="en-US" sz="800"/>
                        <a:t>,and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9"/>
                        </a:rPr>
                        <a:t>Charlotte H. Mason</a:t>
                      </a:r>
                      <a:r>
                        <a:rPr lang="en-US" sz="800"/>
                        <a:t>, 2006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10"/>
                        </a:rPr>
                        <a:t>XGBoost: A Scalable Tree Boosting System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800"/>
                        <a:t>Chen &amp; Guestrin, 2016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11"/>
                        </a:rPr>
                        <a:t>New Insights into Churn Prediction in the Telecommunication Sector: A Profit Driven Data Mining Approach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uFill>
                            <a:noFill/>
                          </a:uFill>
                          <a:hlinkClick r:id="rId12"/>
                        </a:rPr>
                        <a:t>Wouter Verbeke</a:t>
                      </a:r>
                      <a:r>
                        <a:rPr lang="en-US" sz="800"/>
                        <a:t>, Karel Dejaeger,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13"/>
                        </a:rPr>
                        <a:t>David Martens</a:t>
                      </a:r>
                      <a:r>
                        <a:rPr lang="en-US" sz="800"/>
                        <a:t>, Joon Hur 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14"/>
                        </a:rPr>
                        <a:t>Bart Baesens</a:t>
                      </a:r>
                      <a:r>
                        <a:rPr lang="en-US" sz="800"/>
                        <a:t>, 2012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15"/>
                        </a:rPr>
                        <a:t>Developing optimization models for customer churn prediction in telecoms using artificial intelligence techniques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Ibrahim AlShourbaji, 2024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16"/>
                        </a:rPr>
                        <a:t>Six Sigma Methodology Utilization in Telecom Sector for Quality Improvement- A DMAIC Process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17"/>
                        </a:rPr>
                        <a:t>BHARGAVA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18"/>
                        </a:rPr>
                        <a:t>MANISH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19"/>
                        </a:rPr>
                        <a:t>Dr. AWDHESH. BHARDWAJ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20"/>
                        </a:rPr>
                        <a:t>RATHORE A.P.S</a:t>
                      </a:r>
                      <a:r>
                        <a:rPr lang="en-US" sz="800"/>
                        <a:t>, 2010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7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21"/>
                        </a:rPr>
                        <a:t>Six Sigma and continuous improvement strategies</a:t>
                      </a:r>
                      <a:endParaRPr sz="8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Ghelani (2023)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8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22"/>
                        </a:rPr>
                        <a:t>Customer Contentment and Churn Control in PTCL for Broadband (BB) services by means of Lean Six Sigma (LSS)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320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uFill>
                            <a:noFill/>
                          </a:uFill>
                          <a:hlinkClick r:id="rId23"/>
                        </a:rPr>
                        <a:t>Sarrosh Zaheer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24"/>
                        </a:rPr>
                        <a:t>Shahzada Alamgir Khan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25"/>
                        </a:rPr>
                        <a:t>Umair Ashraf Khawaja</a:t>
                      </a:r>
                      <a:r>
                        <a:rPr lang="en-US" sz="800"/>
                        <a:t>, 2024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</a:rPr>
                        <a:t>Aligning key performance indicators with lean management in the service sector: A case study for a Jordanian telecommunication company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uFill>
                            <a:noFill/>
                          </a:uFill>
                          <a:hlinkClick r:id="rId26"/>
                        </a:rPr>
                        <a:t>Abdullah Alalawin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27"/>
                        </a:rPr>
                        <a:t>Ahmad M. Qamar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28"/>
                        </a:rPr>
                        <a:t>Wafa’ H. AlAlaween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29"/>
                        </a:rPr>
                        <a:t>Yasser Bentahar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30"/>
                        </a:rPr>
                        <a:t>Tarneem Al-Halaybeh</a:t>
                      </a:r>
                      <a:r>
                        <a:rPr lang="en-US" sz="800"/>
                        <a:t>,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31"/>
                        </a:rPr>
                        <a:t>Salsabeel Al-Jundi</a:t>
                      </a:r>
                      <a:r>
                        <a:rPr lang="en-US" sz="800"/>
                        <a:t> &amp; </a:t>
                      </a:r>
                      <a:r>
                        <a:rPr lang="en-US" sz="800">
                          <a:uFill>
                            <a:noFill/>
                          </a:uFill>
                          <a:hlinkClick r:id="rId32"/>
                        </a:rPr>
                        <a:t>Moayad Tanash</a:t>
                      </a:r>
                      <a:r>
                        <a:rPr lang="en-US" sz="800"/>
                        <a:t>, 2022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10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3000"/>
                        </a:lnSpc>
                        <a:spcBef>
                          <a:spcPts val="17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hlink"/>
                          </a:solidFill>
                          <a:hlinkClick r:id="rId33"/>
                        </a:rPr>
                        <a:t>Customer Churn Prediction: A Systematic Review of Recent Advances, Trends, and Challenges in Machine Learning and Deep Learning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800"/>
                        <a:t>Mehdi Imani, Majid, Joudaki, Ali, Hamid Reza, 2025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2026-04-26T21:39:50Z</dcterms:created>
  <dc:creator>PptxGenJS</dc:creator>
</cp:coreProperties>
</file>